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放行正常率 OTP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5月</c:v>
                </c:pt>
                <c:pt idx="1">
                  <c:v>6月</c:v>
                </c:pt>
                <c:pt idx="2">
                  <c:v>7月</c:v>
                </c:pt>
                <c:pt idx="3">
                  <c:v>8月</c:v>
                </c:pt>
                <c:pt idx="4">
                  <c:v>9月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84</c:v>
                </c:pt>
                <c:pt idx="2">
                  <c:v>87</c:v>
                </c:pt>
                <c:pt idx="3">
                  <c:v>89</c:v>
                </c:pt>
                <c:pt idx="4">
                  <c:v>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各位好，今天我们介绍航班过站保障。过站时间直接影响航班准点率和飞机利用率，是机场和航司共同关注的核心指标。</a:t>
            </a:r>
          </a:p>
          <a:p>
            <a:r>
              <a:t>请注意窄体机 35 分钟的目标。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A-CDM 里与过站相关的四个里程碑，TOBT 由航司或地服负责更新，TSAT 由塔台排序给出。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甘特图展示了关键路径：下客 → 清洁 → 上客，加油可以与配餐并行，但有旅客在机上时加油需要消防监护。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GSE 的调度效率决定了保障节点能否按时开始，我们通过物联网定位实现车辆实时调度。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表格对比了三个基地的平均过站时间，北京基地通过协同决策把平均时间缩短了 6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图表显示实施 A-CDM 后放行正常率逐月提升，九月达到 91%。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最后是三条优化建议，其中 AI 预测模型已经在试点，预计明年推广。谢谢大家。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航班过站保障 Aircraft Turnaround 概述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过站保障（Turnaround）是飞机从落地上轮挡到下一次撤轮挡之间的全部地面作业</a:t>
            </a:r>
          </a:p>
          <a:p>
            <a:r>
              <a:rPr>
                <a:solidFill>
                  <a:srgbClr val="FFFFFF"/>
                </a:solidFill>
              </a:rPr>
              <a:t>涉及加油、配餐、清洁、行李装卸、旅客上下机等 20 余个保障节点</a:t>
            </a:r>
          </a:p>
          <a:p>
            <a:r>
              <a:rPr>
                <a:solidFill>
                  <a:srgbClr val="FFFFFF"/>
                </a:solidFill>
              </a:rPr>
              <a:t>Target: 窄体机过站时间压缩到 35 分钟以内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关键里程碑 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AIBT 实际上轮挡时间 (Actual In-Block Time)</a:t>
            </a:r>
          </a:p>
          <a:p>
            <a:pPr lvl="1"/>
            <a:r>
              <a:rPr>
                <a:solidFill>
                  <a:srgbClr val="FFFFFF"/>
                </a:solidFill>
              </a:rPr>
              <a:t>TOBT 目标撤轮挡时间 (Target Off-Block Time)</a:t>
            </a:r>
          </a:p>
          <a:p>
            <a:pPr lvl="1"/>
            <a:r>
              <a:rPr>
                <a:solidFill>
                  <a:srgbClr val="FFFFFF"/>
                </a:solidFill>
              </a:rPr>
              <a:t>TSAT 目标启动许可时间 (Target Start-up Approval Time)</a:t>
            </a:r>
          </a:p>
          <a:p>
            <a:r>
              <a:rPr>
                <a:solidFill>
                  <a:srgbClr val="FFFFFF"/>
                </a:solidFill>
              </a:rPr>
              <a:t>AOBT 实际撤轮挡时间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保障流程甘特图 Turnaround Gantt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下客 Deplaning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63040"/>
            <a:ext cx="1243584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清洁 Cleaning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6784" y="2103120"/>
            <a:ext cx="155448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配餐 Catering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743200"/>
            <a:ext cx="233172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加油 Fueling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5887" y="3383279"/>
            <a:ext cx="2176272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14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行李装卸 Baggage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54096" y="4023360"/>
            <a:ext cx="388620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上客 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41264" y="4663440"/>
            <a:ext cx="2331720" cy="411480"/>
          </a:xfrm>
          <a:prstGeom prst="rect">
            <a:avLst/>
          </a:prstGeom>
          <a:solidFill>
            <a:srgbClr val="C01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15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地面保障设备 GSE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客梯车 / 廊桥 Passenger Boarding Bridge</a:t>
            </a:r>
          </a:p>
          <a:p>
            <a:r>
              <a:rPr>
                <a:solidFill>
                  <a:srgbClr val="FFFFFF"/>
                </a:solidFill>
              </a:rPr>
              <a:t>行李传送带车 Belt Loader</a:t>
            </a:r>
          </a:p>
          <a:p>
            <a:r>
              <a:rPr>
                <a:solidFill>
                  <a:srgbClr val="FFFFFF"/>
                </a:solidFill>
              </a:rPr>
              <a:t>牵引车 Pushback Tug</a:t>
            </a:r>
          </a:p>
          <a:p>
            <a:r>
              <a:rPr>
                <a:solidFill>
                  <a:srgbClr val="FFFFFF"/>
                </a:solidFill>
              </a:rPr>
              <a:t>电源车 GPU 与空调车 PCA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过站时间统计 Turnaround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基地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平均过站(分钟)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TOBT 准确率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北京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81%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广州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78%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准点率趋势 OTP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优化建议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推行 TOBT 准确率考核，误差控制在 ±5 分钟</a:t>
            </a:r>
          </a:p>
          <a:p>
            <a:r>
              <a:rPr>
                <a:solidFill>
                  <a:srgbClr val="FFFFFF"/>
                </a:solidFill>
              </a:rPr>
              <a:t>关键路径节点数字化签到，减少人工通报</a:t>
            </a:r>
          </a:p>
          <a:p>
            <a:r>
              <a:rPr>
                <a:solidFill>
                  <a:srgbClr val="FFFFFF"/>
                </a:solidFill>
              </a:rPr>
              <a:t>引入 AI 预测模型预估过站时间 Predictive Turnaround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航班过站保障Turnaround_黑底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